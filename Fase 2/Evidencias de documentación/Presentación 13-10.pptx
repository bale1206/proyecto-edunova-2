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EB Garamond Medium"/>
      <p:regular r:id="rId9"/>
      <p:bold r:id="rId10"/>
      <p:italic r:id="rId11"/>
      <p:boldItalic r:id="rId12"/>
    </p:embeddedFont>
    <p:embeddedFont>
      <p:font typeface="EB Garamond"/>
      <p:regular r:id="rId13"/>
      <p:bold r:id="rId14"/>
      <p:italic r:id="rId15"/>
      <p:boldItalic r:id="rId16"/>
    </p:embeddedFont>
    <p:embeddedFont>
      <p:font typeface="EB Garamond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BGaramondMedium-italic.fntdata"/><Relationship Id="rId10" Type="http://schemas.openxmlformats.org/officeDocument/2006/relationships/font" Target="fonts/EBGaramondMedium-bold.fntdata"/><Relationship Id="rId13" Type="http://schemas.openxmlformats.org/officeDocument/2006/relationships/font" Target="fonts/EBGaramond-regular.fntdata"/><Relationship Id="rId12" Type="http://schemas.openxmlformats.org/officeDocument/2006/relationships/font" Target="fonts/EBGaramond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EBGaramondMedium-regular.fntdata"/><Relationship Id="rId15" Type="http://schemas.openxmlformats.org/officeDocument/2006/relationships/font" Target="fonts/EBGaramond-italic.fntdata"/><Relationship Id="rId14" Type="http://schemas.openxmlformats.org/officeDocument/2006/relationships/font" Target="fonts/EBGaramond-bold.fntdata"/><Relationship Id="rId17" Type="http://schemas.openxmlformats.org/officeDocument/2006/relationships/font" Target="fonts/EBGaramondExtraBold-bold.fntdata"/><Relationship Id="rId16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EBGaramond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69a61f02eebab668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69a61f02eebab668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69a61f02eebab668_8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69a61f02eebab668_8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Untitled desig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325" y="0"/>
            <a:ext cx="4592700" cy="459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03750" y="1350300"/>
            <a:ext cx="55365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B4A7D6"/>
                </a:solidFill>
                <a:highlight>
                  <a:srgbClr val="D9EAD3"/>
                </a:highlight>
                <a:latin typeface="EB Garamond ExtraBold"/>
                <a:ea typeface="EB Garamond ExtraBold"/>
                <a:cs typeface="EB Garamond ExtraBold"/>
                <a:sym typeface="EB Garamond ExtraBold"/>
              </a:rPr>
              <a:t>Proyecto EduNova</a:t>
            </a:r>
            <a:endParaRPr sz="5000">
              <a:solidFill>
                <a:srgbClr val="B4A7D6"/>
              </a:solidFill>
              <a:highlight>
                <a:srgbClr val="D9EAD3"/>
              </a:highlight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000">
                <a:solidFill>
                  <a:srgbClr val="6AA84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E</a:t>
            </a:r>
            <a:r>
              <a:rPr i="1" lang="en" sz="5000">
                <a:solidFill>
                  <a:srgbClr val="A4C2F4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du</a:t>
            </a:r>
            <a:r>
              <a:rPr i="1" lang="en" sz="5000">
                <a:solidFill>
                  <a:srgbClr val="6AA84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N</a:t>
            </a:r>
            <a:r>
              <a:rPr i="1" lang="en" sz="5000">
                <a:solidFill>
                  <a:srgbClr val="A4C2F4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ova Project</a:t>
            </a:r>
            <a:endParaRPr i="1" sz="5000">
              <a:solidFill>
                <a:srgbClr val="A4C2F4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34450" y="4191000"/>
            <a:ext cx="3692700" cy="798600"/>
          </a:xfrm>
          <a:prstGeom prst="rect">
            <a:avLst/>
          </a:prstGeom>
          <a:solidFill>
            <a:srgbClr val="CFE2F3">
              <a:alpha val="8101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56575" y="4205650"/>
            <a:ext cx="36927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Integrantes: Fabián González &amp; Valentina Latorre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Docente: Rocío Contreras A.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Fecha: 13 de octubre, 2026</a:t>
            </a:r>
            <a:endParaRPr>
              <a:solidFill>
                <a:schemeClr val="dk2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286325" y="1018450"/>
            <a:ext cx="46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Justificación </a:t>
            </a:r>
            <a:r>
              <a:rPr b="1" i="1" lang="en" sz="3300">
                <a:solidFill>
                  <a:srgbClr val="CFE2F3"/>
                </a:solidFill>
                <a:highlight>
                  <a:srgbClr val="3C78D8"/>
                </a:highlight>
                <a:latin typeface="EB Garamond"/>
                <a:ea typeface="EB Garamond"/>
                <a:cs typeface="EB Garamond"/>
                <a:sym typeface="EB Garamond"/>
              </a:rPr>
              <a:t>Innovación</a:t>
            </a:r>
            <a:endParaRPr b="1" i="1" sz="3300">
              <a:solidFill>
                <a:srgbClr val="CFE2F3"/>
              </a:solidFill>
              <a:highlight>
                <a:srgbClr val="3C78D8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22375" y="1815275"/>
            <a:ext cx="8573100" cy="318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➔"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Sitio web &gt; App móvil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➔"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Simplicidad &gt; Muchas funcionalidades en una sola vista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Funcionalidades por incorporar (sugerencia):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➔"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Planificación: calendarios interactivos (Google Calendar, Proton Calendar, etc.), herramientas de planificación (planners, to-do lists, etc.). 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➔"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Convivencia: Reglamento Interno de Convivencia (RICE).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➔"/>
            </a:pP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Panel de analítica: deserciones académicas, rendimiento a nivel establecimiento, entre otros.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" y="121625"/>
            <a:ext cx="2058876" cy="5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143250" y="1018450"/>
            <a:ext cx="320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CFE2F3"/>
                </a:solidFill>
                <a:latin typeface="EB Garamond"/>
                <a:ea typeface="EB Garamond"/>
                <a:cs typeface="EB Garamond"/>
                <a:sym typeface="EB Garamond"/>
              </a:rPr>
              <a:t>Siguientes </a:t>
            </a:r>
            <a:r>
              <a:rPr b="1" i="1" lang="en" sz="3300">
                <a:solidFill>
                  <a:srgbClr val="CFE2F3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Pasos</a:t>
            </a:r>
            <a:endParaRPr b="1" i="1" sz="3300">
              <a:solidFill>
                <a:srgbClr val="CFE2F3"/>
              </a:solidFill>
              <a:highlight>
                <a:srgbClr val="A64D79"/>
              </a:highlight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57550" y="1962175"/>
            <a:ext cx="8317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Char char="➔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Incorporación feedback.</a:t>
            </a: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Char char="➔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Corregir tabla "Estudiantes" para archivos CSV y otras mejoras funcionales pertinentes.</a:t>
            </a: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Char char="➔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Incluir funcionalidades acorde al centro de práctica y competencia.</a:t>
            </a: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3" name="Google Shape;73;p15" title="volodymyr-hryshchenko-L0oJ4Dlfyuo-unspl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775" y="3562398"/>
            <a:ext cx="2754924" cy="126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