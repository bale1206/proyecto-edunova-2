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EB Garamond Medium"/>
      <p:regular r:id="rId23"/>
      <p:bold r:id="rId24"/>
      <p:italic r:id="rId25"/>
      <p:boldItalic r:id="rId26"/>
    </p:embeddedFont>
    <p:embeddedFont>
      <p:font typeface="EB Garamond SemiBold"/>
      <p:regular r:id="rId27"/>
      <p:bold r:id="rId28"/>
      <p:italic r:id="rId29"/>
      <p:boldItalic r:id="rId30"/>
    </p:embeddedFont>
    <p:embeddedFont>
      <p:font typeface="EB Garamond"/>
      <p:regular r:id="rId31"/>
      <p:bold r:id="rId32"/>
      <p:italic r:id="rId33"/>
      <p:boldItalic r:id="rId34"/>
    </p:embeddedFont>
    <p:embeddedFont>
      <p:font typeface="EB Garamond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27B889-04EE-4349-842A-6CD6300CBB2D}">
  <a:tblStyle styleId="{AA27B889-04EE-4349-842A-6CD6300CBB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EBGaramondMedium-bold.fntdata"/><Relationship Id="rId23" Type="http://schemas.openxmlformats.org/officeDocument/2006/relationships/font" Target="fonts/EBGaramond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BGaramondMedium-boldItalic.fntdata"/><Relationship Id="rId25" Type="http://schemas.openxmlformats.org/officeDocument/2006/relationships/font" Target="fonts/EBGaramondMedium-italic.fntdata"/><Relationship Id="rId28" Type="http://schemas.openxmlformats.org/officeDocument/2006/relationships/font" Target="fonts/EBGaramondSemiBold-bold.fntdata"/><Relationship Id="rId27" Type="http://schemas.openxmlformats.org/officeDocument/2006/relationships/font" Target="fonts/EBGaramond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EBGaramond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BGaramond-regular.fntdata"/><Relationship Id="rId30" Type="http://schemas.openxmlformats.org/officeDocument/2006/relationships/font" Target="fonts/EBGaramond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EBGaramond-italic.fntdata"/><Relationship Id="rId10" Type="http://schemas.openxmlformats.org/officeDocument/2006/relationships/slide" Target="slides/slide4.xml"/><Relationship Id="rId32" Type="http://schemas.openxmlformats.org/officeDocument/2006/relationships/font" Target="fonts/EBGaramond-bold.fntdata"/><Relationship Id="rId13" Type="http://schemas.openxmlformats.org/officeDocument/2006/relationships/slide" Target="slides/slide7.xml"/><Relationship Id="rId35" Type="http://schemas.openxmlformats.org/officeDocument/2006/relationships/font" Target="fonts/EBGaramondExtraBold-bold.fntdata"/><Relationship Id="rId12" Type="http://schemas.openxmlformats.org/officeDocument/2006/relationships/slide" Target="slides/slide6.xml"/><Relationship Id="rId34" Type="http://schemas.openxmlformats.org/officeDocument/2006/relationships/font" Target="fonts/EBGaramon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EBGaramondExtra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598363645dc640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598363645dc640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598363645dc640b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598363645dc640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598363645dc640b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598363645dc640b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98363645dc640b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598363645dc640b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98363645dc640b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598363645dc640b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98363645dc640b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598363645dc640b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598363645dc640b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598363645dc640b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598363645dc640b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598363645dc640b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6f3071d867e96dd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6f3071d867e96d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598363645dc640b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598363645dc640b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98363645dc640b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598363645dc640b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598363645dc640b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598363645dc640b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598363645dc640b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598363645dc640b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598363645dc640b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598363645dc640b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598363645dc640b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598363645dc640b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://alpine.j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3s79spfz-8000.brs.devtunnels.ms/cuentas/login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Untitled desig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325" y="0"/>
            <a:ext cx="4592700" cy="45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803750" y="1350300"/>
            <a:ext cx="55365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B4A7D6"/>
                </a:solidFill>
                <a:highlight>
                  <a:srgbClr val="D9EAD3"/>
                </a:highlight>
                <a:latin typeface="EB Garamond ExtraBold"/>
                <a:ea typeface="EB Garamond ExtraBold"/>
                <a:cs typeface="EB Garamond ExtraBold"/>
                <a:sym typeface="EB Garamond ExtraBold"/>
              </a:rPr>
              <a:t>Proyecto EduNova</a:t>
            </a:r>
            <a:endParaRPr sz="5000">
              <a:solidFill>
                <a:srgbClr val="B4A7D6"/>
              </a:solidFill>
              <a:highlight>
                <a:srgbClr val="D9EAD3"/>
              </a:highlight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000">
                <a:solidFill>
                  <a:srgbClr val="6AA84F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E</a:t>
            </a:r>
            <a:r>
              <a:rPr i="1" lang="en" sz="5000">
                <a:solidFill>
                  <a:srgbClr val="A4C2F4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du</a:t>
            </a:r>
            <a:r>
              <a:rPr i="1" lang="en" sz="5000">
                <a:solidFill>
                  <a:srgbClr val="6AA84F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N</a:t>
            </a:r>
            <a:r>
              <a:rPr i="1" lang="en" sz="5000">
                <a:solidFill>
                  <a:srgbClr val="A4C2F4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ova Project</a:t>
            </a:r>
            <a:endParaRPr i="1" sz="5000">
              <a:solidFill>
                <a:srgbClr val="A4C2F4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34450" y="4191000"/>
            <a:ext cx="3692700" cy="798600"/>
          </a:xfrm>
          <a:prstGeom prst="rect">
            <a:avLst/>
          </a:prstGeom>
          <a:solidFill>
            <a:srgbClr val="CFE2F3">
              <a:alpha val="810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56575" y="4205650"/>
            <a:ext cx="36927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Integrantes: Fabián González &amp; Valentina Latorre</a:t>
            </a:r>
            <a:endParaRPr>
              <a:solidFill>
                <a:schemeClr val="dk2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Docente: Rocío Contreras A.</a:t>
            </a:r>
            <a:endParaRPr>
              <a:solidFill>
                <a:schemeClr val="dk2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Fecha: 20 de octubre, 2026</a:t>
            </a:r>
            <a:endParaRPr>
              <a:solidFill>
                <a:schemeClr val="dk2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2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Integrantes del Proyecto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65" name="Google Shape;65;p14" title="26791_col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3225" y="1585100"/>
            <a:ext cx="1664674" cy="180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26796_color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2250" y="1629075"/>
            <a:ext cx="1664676" cy="186506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1164275" y="3604825"/>
            <a:ext cx="2322600" cy="908400"/>
          </a:xfrm>
          <a:prstGeom prst="rect">
            <a:avLst/>
          </a:prstGeom>
          <a:solidFill>
            <a:srgbClr val="12250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Fabián González</a:t>
            </a:r>
            <a:endParaRPr sz="16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Encargado de desarrollo, arquitectura y pruebas</a:t>
            </a:r>
            <a:endParaRPr>
              <a:solidFill>
                <a:schemeClr val="lt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333288" y="3604825"/>
            <a:ext cx="2322600" cy="9084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Valentina Latorre</a:t>
            </a:r>
            <a:endParaRPr sz="16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Encargada de desarrollo, diseño y pruebas</a:t>
            </a:r>
            <a:endParaRPr>
              <a:solidFill>
                <a:schemeClr val="lt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Descripción del Proyecto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5" name="Google Shape;75;p15" title="Práctica - Árbol de oportunidad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550" y="1680375"/>
            <a:ext cx="6656889" cy="312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95375" y="705275"/>
            <a:ext cx="8990100" cy="492600"/>
          </a:xfrm>
          <a:prstGeom prst="rect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Objetivo General</a:t>
            </a:r>
            <a:endParaRPr b="1" sz="20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95250" y="1937875"/>
            <a:ext cx="8990100" cy="492600"/>
          </a:xfrm>
          <a:prstGeom prst="rect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Objetivos Específicos</a:t>
            </a:r>
            <a:endParaRPr b="1" sz="20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95375" y="1275375"/>
            <a:ext cx="8990100" cy="585000"/>
          </a:xfrm>
          <a:prstGeom prst="rect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Facilitar la gestión académica para docentes, estudiantes y administrativos, apoyando la gestión del tiempo de los usuarios y mejorando su progreso académico.</a:t>
            </a:r>
            <a:endParaRPr b="1" sz="1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95250" y="2507975"/>
            <a:ext cx="8990100" cy="2401200"/>
          </a:xfrm>
          <a:prstGeom prst="rect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1.-</a:t>
            </a:r>
            <a:r>
              <a:rPr b="1" lang="en" sz="1200">
                <a:solidFill>
                  <a:srgbClr val="3D85C6"/>
                </a:solidFill>
                <a:latin typeface="EB Garamond"/>
                <a:ea typeface="EB Garamond"/>
                <a:cs typeface="EB Garamond"/>
                <a:sym typeface="EB Garamond"/>
              </a:rPr>
              <a:t>Reducir en un 20 % el tiempo dedicado a la gestión de actividades académicas</a:t>
            </a: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 de docentes, estudiantes y administrativos, durante los primeros 3 meses de implementación, a través de la comparación del tiempo promedio necesario para completar tareas antes y después de utilizar EduNova.</a:t>
            </a:r>
            <a:endParaRPr b="1" sz="12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2.-</a:t>
            </a:r>
            <a:r>
              <a:rPr b="1" lang="en" sz="1200">
                <a:solidFill>
                  <a:srgbClr val="3D85C6"/>
                </a:solidFill>
                <a:latin typeface="EB Garamond"/>
                <a:ea typeface="EB Garamond"/>
                <a:cs typeface="EB Garamond"/>
                <a:sym typeface="EB Garamond"/>
              </a:rPr>
              <a:t>Incrementar en un 25 % el cumplimiento oportuno de las actividades académicas</a:t>
            </a: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 de los estudiantes, durante los primeros 3 meses de uso, a través del seguimiento del porcentaje de tareas completadas dentro de los plazos establecidos en la plataforma.</a:t>
            </a:r>
            <a:endParaRPr b="1" sz="12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3.-</a:t>
            </a:r>
            <a:r>
              <a:rPr b="1" lang="en" sz="1200">
                <a:solidFill>
                  <a:srgbClr val="3D85C6"/>
                </a:solidFill>
                <a:latin typeface="EB Garamond"/>
                <a:ea typeface="EB Garamond"/>
                <a:cs typeface="EB Garamond"/>
                <a:sym typeface="EB Garamond"/>
              </a:rPr>
              <a:t>Disminuir en un 30 % el tiempo requerido por los docentes para registrar y gestionar la asistencia estudiantil</a:t>
            </a: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, durante las primeras 8 semanas de implementación, a través de la medición del tiempo promedio dedicado al registro y corrección de asistencia por sección.</a:t>
            </a:r>
            <a:endParaRPr b="1" sz="12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4.-</a:t>
            </a:r>
            <a:r>
              <a:rPr b="1" lang="en" sz="1200">
                <a:solidFill>
                  <a:srgbClr val="3D85C6"/>
                </a:solidFill>
                <a:latin typeface="EB Garamond"/>
                <a:ea typeface="EB Garamond"/>
                <a:cs typeface="EB Garamond"/>
                <a:sym typeface="EB Garamond"/>
              </a:rPr>
              <a:t>Aumentar en un 15 % la participación de los estudiantes en las actividades académicas programadas</a:t>
            </a: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, durante el primer semestre de implementación, a través del seguimiento del porcentaje de asistencia registrado por asignatura y sección en EduNova.</a:t>
            </a:r>
            <a:endParaRPr b="1" sz="12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5.- </a:t>
            </a:r>
            <a:r>
              <a:rPr b="1" lang="en" sz="1200">
                <a:solidFill>
                  <a:srgbClr val="3D85C6"/>
                </a:solidFill>
                <a:latin typeface="EB Garamond"/>
                <a:ea typeface="EB Garamond"/>
                <a:cs typeface="EB Garamond"/>
                <a:sym typeface="EB Garamond"/>
              </a:rPr>
              <a:t>Mejorar en un 20 % la eficiencia de los directores de carrera en el seguimiento académico de los estudiantes</a:t>
            </a:r>
            <a:r>
              <a:rPr b="1" lang="en" sz="12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, durante los primeros 3 meses de implementación, a través de la reducción del tiempo promedio necesario para consultar indicadores de asistencia y detectar estudiantes con baja participación.</a:t>
            </a:r>
            <a:endParaRPr b="1" sz="12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2249400" y="627775"/>
            <a:ext cx="464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Alcances y Limitaciones del Proyecto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1018450" y="179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{AA27B889-04EE-4349-842A-6CD6300CBB2D}</a:tableStyleId>
              </a:tblPr>
              <a:tblGrid>
                <a:gridCol w="3990575"/>
                <a:gridCol w="3116525"/>
              </a:tblGrid>
              <a:tr h="34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Alcance</a:t>
                      </a:r>
                      <a:endParaRPr b="1" sz="19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Limitaciones</a:t>
                      </a:r>
                      <a:endParaRPr b="1" sz="19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234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Registro de asistencia 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Notificación interna de inasistencia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Visualización asistencia porcentual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Registro de observaciones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Seguimiento de observaciones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Generación de eventos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Asignación de eventos a curso, docente y estudiante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Notificación de eventos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Visualización calendarizada de lo eventos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Cambiar visualización general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Exportar reportes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Generar plantilla para ingesta de datos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Importe de datos 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Almacenamiento en nube</a:t>
                      </a:r>
                      <a:endParaRPr b="1" sz="12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 conexiones de comunicación externa (api para correo, WhatsApp, etc.)</a:t>
                      </a:r>
                      <a:endParaRPr b="1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 automatización de procesos completos</a:t>
                      </a:r>
                      <a:endParaRPr b="1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 paso a aplicativo</a:t>
                      </a:r>
                      <a:endParaRPr b="1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Metodología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512850" y="1749150"/>
            <a:ext cx="8118300" cy="2339700"/>
          </a:xfrm>
          <a:prstGeom prst="rect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Metodología Lean</a:t>
            </a:r>
            <a:endParaRPr b="1" sz="2000" u="sng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500"/>
              <a:buFont typeface="EB Garamond"/>
              <a:buChar char="-"/>
            </a:pPr>
            <a:r>
              <a:rPr b="1" lang="en" sz="15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Mejora continua</a:t>
            </a:r>
            <a:endParaRPr b="1" sz="15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500"/>
              <a:buFont typeface="EB Garamond"/>
              <a:buChar char="-"/>
            </a:pPr>
            <a:r>
              <a:rPr b="1" lang="en" sz="15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Entrega de valor al cliente</a:t>
            </a:r>
            <a:endParaRPr b="1" sz="15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500"/>
              <a:buFont typeface="EB Garamond"/>
              <a:buChar char="-"/>
            </a:pPr>
            <a:r>
              <a:rPr b="1" lang="en" sz="15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 Búsqueda de la perfección</a:t>
            </a:r>
            <a:endParaRPr b="1" sz="15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500"/>
              <a:buFont typeface="EB Garamond"/>
              <a:buChar char="-"/>
            </a:pPr>
            <a:r>
              <a:rPr b="1" lang="en" sz="15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Compromiso del equipo a través de cambios incrementales</a:t>
            </a:r>
            <a:endParaRPr b="1" sz="15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500"/>
              <a:buFont typeface="EB Garamond"/>
              <a:buChar char="-"/>
            </a:pPr>
            <a:r>
              <a:rPr b="1" lang="en" sz="15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Mejora en calidad</a:t>
            </a:r>
            <a:endParaRPr b="1" sz="15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500"/>
              <a:buFont typeface="EB Garamond"/>
              <a:buChar char="-"/>
            </a:pPr>
            <a:r>
              <a:rPr b="1" lang="en" sz="15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Mayor satisfacción del cliente</a:t>
            </a:r>
            <a:endParaRPr b="1" sz="15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500"/>
              <a:buFont typeface="EB Garamond"/>
              <a:buChar char="-"/>
            </a:pPr>
            <a:r>
              <a:rPr b="1" lang="en" sz="15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Feedback del cliente</a:t>
            </a:r>
            <a:endParaRPr b="1" sz="15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Carta Gantt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450" y="1476675"/>
            <a:ext cx="6383091" cy="33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Arquitectura de Software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2" name="Google Shape;112;p20" title="Arquitectura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0713" y="1476675"/>
            <a:ext cx="4262567" cy="33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Modelo de Datos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550" y="1476675"/>
            <a:ext cx="6622905" cy="336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413" y="831450"/>
            <a:ext cx="8295166" cy="421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Tecnologías Utilizadas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32" name="Google Shape;132;p23"/>
          <p:cNvGraphicFramePr/>
          <p:nvPr/>
        </p:nvGraphicFramePr>
        <p:xfrm>
          <a:off x="1018450" y="179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{AA27B889-04EE-4349-842A-6CD6300CBB2D}</a:tableStyleId>
              </a:tblPr>
              <a:tblGrid>
                <a:gridCol w="1777850"/>
                <a:gridCol w="5329250"/>
              </a:tblGrid>
              <a:tr h="38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Frontend</a:t>
                      </a:r>
                      <a:endParaRPr b="1" sz="20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HTMX, </a:t>
                      </a:r>
                      <a:r>
                        <a:rPr b="1" lang="en" sz="2000" u="sng">
                          <a:solidFill>
                            <a:schemeClr val="hlink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  <a:hlinkClick r:id="rId4"/>
                        </a:rPr>
                        <a:t>Alpine.js</a:t>
                      </a: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, Tailwind CSS</a:t>
                      </a:r>
                      <a:endParaRPr b="1" sz="20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Backend</a:t>
                      </a:r>
                      <a:endParaRPr b="1" sz="20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Django</a:t>
                      </a:r>
                      <a:endParaRPr b="1" sz="20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Base de Datos</a:t>
                      </a:r>
                      <a:endParaRPr b="1" sz="20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PostgreSQL, Supabase (dentro del código)</a:t>
                      </a:r>
                      <a:endParaRPr b="1" sz="20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5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Entornos</a:t>
                      </a:r>
                      <a:endParaRPr b="1" sz="20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Visual Studio Code, Supabase (sitio web)</a:t>
                      </a:r>
                      <a:endParaRPr b="1" sz="2000">
                        <a:solidFill>
                          <a:schemeClr val="lt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>
            <a:hlinkClick r:id="rId4"/>
          </p:cNvPr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Demostración EduNova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2249400" y="2225400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Resultados Obtenidos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 txBox="1"/>
          <p:nvPr/>
        </p:nvSpPr>
        <p:spPr>
          <a:xfrm>
            <a:off x="2249400" y="2225400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Obstáculos Identificados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2249400" y="783975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Siguientes Pasos</a:t>
            </a:r>
            <a:endParaRPr b="1" sz="3300">
              <a:solidFill>
                <a:srgbClr val="CFE2F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611850" y="1692500"/>
            <a:ext cx="792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B Garamond SemiBold"/>
              <a:buChar char="➔"/>
            </a:pPr>
            <a:r>
              <a:rPr lang="en" sz="1800">
                <a:solidFill>
                  <a:schemeClr val="lt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Tiempo ajustado -&gt; encuestas usuarios clave (estudiantes, docentes, directores de carrera)</a:t>
            </a:r>
            <a:endParaRPr sz="1800">
              <a:solidFill>
                <a:schemeClr val="lt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B Garamond SemiBold"/>
              <a:buChar char="➔"/>
            </a:pPr>
            <a:r>
              <a:rPr lang="en" sz="1800">
                <a:solidFill>
                  <a:schemeClr val="lt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Diseñar pruebas funcionalidad y de usabilidad</a:t>
            </a:r>
            <a:endParaRPr sz="1800">
              <a:solidFill>
                <a:schemeClr val="lt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B Garamond SemiBold"/>
              <a:buChar char="➔"/>
            </a:pPr>
            <a:r>
              <a:rPr lang="en" sz="1800">
                <a:solidFill>
                  <a:schemeClr val="lt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Modificaciones en base a feedback de usuarios clave</a:t>
            </a:r>
            <a:endParaRPr sz="1800">
              <a:solidFill>
                <a:schemeClr val="lt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B Garamond SemiBold"/>
              <a:buChar char="➔"/>
            </a:pPr>
            <a:r>
              <a:rPr lang="en" sz="1800">
                <a:solidFill>
                  <a:schemeClr val="lt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Modificaciones a nivel proyecto en base a feedback pertinente</a:t>
            </a:r>
            <a:endParaRPr sz="1800">
              <a:solidFill>
                <a:schemeClr val="lt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/>
        </p:nvSpPr>
        <p:spPr>
          <a:xfrm>
            <a:off x="2249400" y="2094600"/>
            <a:ext cx="4645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CFE2F3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Q&amp;A</a:t>
            </a:r>
            <a:endParaRPr sz="5000">
              <a:solidFill>
                <a:srgbClr val="CFE2F3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