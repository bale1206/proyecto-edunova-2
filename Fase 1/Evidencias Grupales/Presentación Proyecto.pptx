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+8JxWoUr2Rv/LLoGmecqNCA7g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0A2EC2-B5E0-49AB-B1DF-B01E938260EA}">
  <a:tblStyle styleId="{A50A2EC2-B5E0-49AB-B1DF-B01E938260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C31A297-0ADF-42AD-AC58-AA3FB69A04D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a4cc55dd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a4cc55ddd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13.png"/><Relationship Id="rId10" Type="http://schemas.openxmlformats.org/officeDocument/2006/relationships/image" Target="../media/image11.png"/><Relationship Id="rId9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Relationship Id="rId8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hyperlink" Target="https://www.figma.com/proto/9srKUOxDTVw0JiF64xmJyN/EduNova-Project?node-id=0-1&amp;p=f&amp;t=dPQ0oC5T3fPxIIpb-0&amp;scaling=scale-down&amp;content-scaling=fixed&amp;starting-point-node-id=2008%3A62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29" y="495097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EDUNOVA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963" y="4463247"/>
            <a:ext cx="4536009" cy="1144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EDUNOVA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4291515" y="738241"/>
            <a:ext cx="360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95" name="Google Shape;95;p2"/>
          <p:cNvGraphicFramePr/>
          <p:nvPr/>
        </p:nvGraphicFramePr>
        <p:xfrm>
          <a:off x="2810600" y="210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{A50A2EC2-B5E0-49AB-B1DF-B01E938260EA}</a:tableStyleId>
              </a:tblPr>
              <a:tblGrid>
                <a:gridCol w="2498275"/>
                <a:gridCol w="1448775"/>
                <a:gridCol w="1357500"/>
                <a:gridCol w="1266250"/>
              </a:tblGrid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/>
                        <a:t>Funciones/Integrantes</a:t>
                      </a:r>
                      <a:endParaRPr b="1" sz="1100"/>
                    </a:p>
                  </a:txBody>
                  <a:tcPr marT="63500" marB="63500" marR="63500" marL="63500">
                    <a:solidFill>
                      <a:srgbClr val="6EA2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Bastián Bianchi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Fabián González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Valentina Latorre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</a:tr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Redacción de informes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Preparación de presentaciones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Diseño frontend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Desarrollo backend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Pruebas de certificación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Reunión con cliente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Diseño de arquitectura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Diseño casos de uso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4" name="Google Shape;104;p3"/>
          <p:cNvSpPr/>
          <p:nvPr/>
        </p:nvSpPr>
        <p:spPr>
          <a:xfrm>
            <a:off x="633950" y="1804276"/>
            <a:ext cx="4427400" cy="48387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Sobrecarga y límites difusos: Exceso de tareas administrativas y atención a apoderados fuera del horario.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Plataformas poco prácticas: Los sistemas actuales resultan demasiado complejos y pesados para realizar un monitoreo diario, rápido y sencillo.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Ausencia de herramientas integradas que permitan gestionar el comportamiento, la convivencia y el bienestar psicológico de los estudiantes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877375" y="1804275"/>
            <a:ext cx="4920000" cy="48387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 móvil ágil: Plataforma enfocada exclusivamente en el monitoreo rápido de asistencia,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calificaciones y comportamiento estudiantil.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Comunicación automatizada 24/7: Integración de un chatbot mediante WhatsApp Business para resolver consultas básicas de los apoderados en cualquier momento.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centralizada: Unificación de los datos académicos y disciplinarios para optimizar la administración institucional.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5" name="Google Shape;115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una solución digital que automatice y agilice los procesos de información y comunicación escolar, mejorando sustancialmente la gestión institucional, académica y la calidad de los datos entregados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14525" y="4732398"/>
            <a:ext cx="10962900" cy="19893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Ejecutar reuniones de validación con el cliente cada tres semanas (feedback continuo).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Implementar mejoras derivadas del feedback en un plazo máximo de una semana.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 la Aplicación:Diseñar el prototipo no funcional (Figma) en 1 semana.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el frontend (Visual Studio Code) en 3 semanas.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el backend y su conexión básica al frontend en 2 semanas.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4200" y="1420387"/>
            <a:ext cx="574150" cy="57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9275" y="4034904"/>
            <a:ext cx="646341" cy="64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27" name="Google Shape;127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128" name="Google Shape;128;p5"/>
          <p:cNvGraphicFramePr/>
          <p:nvPr/>
        </p:nvGraphicFramePr>
        <p:xfrm>
          <a:off x="952488" y="225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{2C31A297-0ADF-42AD-AC58-AA3FB69A04DD}</a:tableStyleId>
              </a:tblPr>
              <a:tblGrid>
                <a:gridCol w="5143500"/>
                <a:gridCol w="5143500"/>
              </a:tblGrid>
              <a:tr h="337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Desarrollo de una aplicación móvil centrada en el seguimiento de asistencia, calificaciones y comportamiento.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Integración de un chatbot automatizado vía API de WhatsApp Business para la primera línea de atención a apoderados.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Implementación de un plan piloto orientado a establecimientos de la Región Metropolitana (primer acercamiento con Colegio San Fernando en Buin)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No es un LMS: La plataforma no alojará material didáctico, cursos ni aulas virtuales. 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Restricciones de Tiempo: El ciclo de desarrollo está acotado estrictamente a las 18 semanas que dura la asignatura.  Dependencia Financiera: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Existen costos asociados (suscripciones o consumo de la API de WhatsApp) que requieren una pequeña inversión contemplada. 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Negociación del Alcance: Las funcionalidades finales están sujetas a modificaciones según la retroalimentación y viabilidad técnica acordada con el colegio piloto (en conversación).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37" name="Google Shape;13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725" y="3975050"/>
            <a:ext cx="5821151" cy="29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149" y="3838986"/>
            <a:ext cx="5125727" cy="2798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646150" y="2127950"/>
            <a:ext cx="5010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de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Metodologías: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Lean:  Maximización del valor entregado al cliente, eliminación de procesos ineficientes y entrega rápida del producto.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Ágil : Ciclos de trabajo adaptativos que fomentan la mejora continua a través del feedback.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6096138" y="2174025"/>
            <a:ext cx="5010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Ejecución controlada mediante una Carta Gantt estructurada en 3 fases a lo largo de 18 semanas.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Validación mediante hitos formales y reuniones de corrección cada tres semanas.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1" y="1155656"/>
            <a:ext cx="12192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Ciclo de vida del proyecto establecido en 18 semanas.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49" name="Google Shape;14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9075" y="2048450"/>
            <a:ext cx="8528266" cy="464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4" name="Google Shape;1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0" y="169280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58" name="Google Shape;158;p8" title="Diagrama caso de uso Funcionario - EduNov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00" y="992901"/>
            <a:ext cx="3638303" cy="482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8" title="Diagrama caso de uso Administrador - EduNov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3374" y="1302264"/>
            <a:ext cx="4423475" cy="425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8" title="Diagrama caso de uso Docente - EduNov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38978" y="1796280"/>
            <a:ext cx="3484070" cy="3265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5" name="Google Shape;165;g3fa4cc55ddd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fa4cc55ddd_0_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67" name="Google Shape;167;g3fa4cc55ddd_0_2"/>
          <p:cNvSpPr txBox="1"/>
          <p:nvPr/>
        </p:nvSpPr>
        <p:spPr>
          <a:xfrm>
            <a:off x="0" y="169280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g3fa4cc55ddd_0_2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9" name="Google Shape;169;g3fa4cc55ddd_0_2" title="Arquitectura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700" y="2763575"/>
            <a:ext cx="10974976" cy="40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fa4cc55ddd_0_2"/>
          <p:cNvSpPr txBox="1"/>
          <p:nvPr/>
        </p:nvSpPr>
        <p:spPr>
          <a:xfrm>
            <a:off x="1620550" y="927350"/>
            <a:ext cx="8222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Patrón MVVM :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Desacoplamiento total entre la interfaz de usuario y la lógica de negocio para facilitar la escalabilidad.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Responsivo: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Interfaces desarrolladas con React Native.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Centralizado: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Orquestación de servicios y peticiones HTTP gestionada a través de Node.js y Remix.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Externa: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Conexión directa del modelo con la Cloud API de Meta (WhatsApp) para la salida automatizada de alertas.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Persistencia de Datos: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Flujo centralizado hacia una base de datos relacional (PostgreSQL) que garantiza la integridad.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5" name="Google Shape;1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-142275" y="1848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78" name="Google Shape;178;p9"/>
          <p:cNvCxnSpPr/>
          <p:nvPr/>
        </p:nvCxnSpPr>
        <p:spPr>
          <a:xfrm>
            <a:off x="0" y="83137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9" name="Google Shape;179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7975" y="1478600"/>
            <a:ext cx="1223100" cy="126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 txBox="1"/>
          <p:nvPr/>
        </p:nvSpPr>
        <p:spPr>
          <a:xfrm>
            <a:off x="7457550" y="6446850"/>
            <a:ext cx="345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*Diagrama E-R Simplificado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9272075" y="30502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Calibri"/>
                <a:ea typeface="Calibri"/>
                <a:cs typeface="Calibri"/>
                <a:sym typeface="Calibri"/>
              </a:rPr>
              <a:t>Estructura optimizada para la futura extracción de indicadores clave (KPIs) y reportabilidad directiva.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9272075" y="147860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PostgreSQL: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Garantiza que no haya duplicidad de datos académicos e institucionales (normalización).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25" y="1385475"/>
            <a:ext cx="7836652" cy="547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17950" y="2900975"/>
            <a:ext cx="1383150" cy="13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9" name="Google Shape;1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91" name="Google Shape;191;p10"/>
          <p:cNvSpPr txBox="1"/>
          <p:nvPr/>
        </p:nvSpPr>
        <p:spPr>
          <a:xfrm>
            <a:off x="0" y="12127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a utilizar</a:t>
            </a:r>
            <a:endParaRPr/>
          </a:p>
        </p:txBody>
      </p:sp>
      <p:cxnSp>
        <p:nvCxnSpPr>
          <p:cNvPr id="192" name="Google Shape;192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193" name="Google Shape;193;p10"/>
          <p:cNvGraphicFramePr/>
          <p:nvPr/>
        </p:nvGraphicFramePr>
        <p:xfrm>
          <a:off x="952500" y="207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{2C31A297-0ADF-42AD-AC58-AA3FB69A04DD}</a:tableStyleId>
              </a:tblPr>
              <a:tblGrid>
                <a:gridCol w="5143500"/>
                <a:gridCol w="5143500"/>
              </a:tblGrid>
              <a:tr h="20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 (Interfaces de Usuario)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</a:rPr>
                        <a:t>React Native:</a:t>
                      </a:r>
                      <a:r>
                        <a:rPr lang="es-CL" sz="1100">
                          <a:solidFill>
                            <a:schemeClr val="dk1"/>
                          </a:solidFill>
                        </a:rPr>
                        <a:t> Aplicación móvil (APK)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 (</a:t>
                      </a: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Servidor</a:t>
                      </a: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</a:rPr>
                        <a:t>Node.js:</a:t>
                      </a:r>
                      <a:r>
                        <a:rPr lang="es-CL" sz="1100">
                          <a:solidFill>
                            <a:schemeClr val="dk1"/>
                          </a:solidFill>
                        </a:rPr>
                        <a:t> Ejecución en el servidor (JS).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0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de Datos e Integración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</a:rPr>
                        <a:t>PostgreSQL:</a:t>
                      </a:r>
                      <a:r>
                        <a:rPr lang="es-CL" sz="1100">
                          <a:solidFill>
                            <a:schemeClr val="dk1"/>
                          </a:solidFill>
                        </a:rPr>
                        <a:t> Base de datos relacional (SQL).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</a:rPr>
                        <a:t>Cloud API Meta:</a:t>
                      </a:r>
                      <a:r>
                        <a:rPr lang="es-CL" sz="1100">
                          <a:solidFill>
                            <a:schemeClr val="dk1"/>
                          </a:solidFill>
                        </a:rPr>
                        <a:t> Chatbot de mensajería automatizada.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y Arquitectura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</a:rPr>
                        <a:t>GitHub:</a:t>
                      </a:r>
                      <a:r>
                        <a:rPr lang="es-CL" sz="1100">
                          <a:solidFill>
                            <a:schemeClr val="dk1"/>
                          </a:solidFill>
                        </a:rPr>
                        <a:t> Control de versiones.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</a:rPr>
                        <a:t>Google Workspace:</a:t>
                      </a:r>
                      <a:r>
                        <a:rPr lang="es-CL" sz="1100">
                          <a:solidFill>
                            <a:schemeClr val="dk1"/>
                          </a:solidFill>
                        </a:rPr>
                        <a:t> Documentación colaborativa.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</a:rPr>
                        <a:t>Patrón MVVM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2EFD9"/>
                    </a:solidFill>
                  </a:tcPr>
                </a:tc>
              </a:tr>
            </a:tbl>
          </a:graphicData>
        </a:graphic>
      </p:graphicFrame>
      <p:pic>
        <p:nvPicPr>
          <p:cNvPr id="194" name="Google Shape;194;p10"/>
          <p:cNvPicPr preferRelativeResize="0"/>
          <p:nvPr/>
        </p:nvPicPr>
        <p:blipFill rotWithShape="1">
          <a:blip r:embed="rId4">
            <a:alphaModFix/>
          </a:blip>
          <a:srcRect b="0" l="38296" r="4316" t="0"/>
          <a:stretch/>
        </p:blipFill>
        <p:spPr>
          <a:xfrm>
            <a:off x="2651125" y="2662500"/>
            <a:ext cx="1802800" cy="13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7872" y="2758100"/>
            <a:ext cx="1071800" cy="12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03200" y="4856589"/>
            <a:ext cx="1156675" cy="1285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63375" y="4923174"/>
            <a:ext cx="2304102" cy="1152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389675" y="4866550"/>
            <a:ext cx="482575" cy="4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0"/>
          <p:cNvPicPr preferRelativeResize="0"/>
          <p:nvPr/>
        </p:nvPicPr>
        <p:blipFill rotWithShape="1">
          <a:blip r:embed="rId9">
            <a:alphaModFix/>
          </a:blip>
          <a:srcRect b="34175" l="0" r="0" t="28012"/>
          <a:stretch/>
        </p:blipFill>
        <p:spPr>
          <a:xfrm>
            <a:off x="7536525" y="4979800"/>
            <a:ext cx="1736390" cy="36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0"/>
          <p:cNvPicPr preferRelativeResize="0"/>
          <p:nvPr/>
        </p:nvPicPr>
        <p:blipFill rotWithShape="1">
          <a:blip r:embed="rId10">
            <a:alphaModFix/>
          </a:blip>
          <a:srcRect b="22352" l="2150" r="2702" t="19472"/>
          <a:stretch/>
        </p:blipFill>
        <p:spPr>
          <a:xfrm>
            <a:off x="6223200" y="5426525"/>
            <a:ext cx="4686374" cy="71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5" name="Google Shape;2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PROTOTIPO INICIAL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Prototipo Básico-Inicial de EduNova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1" name="Google Shape;2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7" name="Google Shape;21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3" name="Google Shape;2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